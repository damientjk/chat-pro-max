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acb16bcd0843c8" /><Relationship Type="http://schemas.openxmlformats.org/officeDocument/2006/relationships/extended-properties" Target="/docProps/app.xml" Id="R02d5d59722c74372" /><Relationship Type="http://schemas.openxmlformats.org/officeDocument/2006/relationships/officeDocument" Target="/ppt/presentation.xml" Id="R7db6a754b6c5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4bb1c8ea046ed"/>
  </p:sldMasterIdLst>
  <p:notesMasterIdLst>
    <p:notesMasterId xmlns:r="http://schemas.openxmlformats.org/officeDocument/2006/relationships" r:id="R245bde4dea054e86"/>
  </p:notesMasterIdLst>
  <p:sldIdLst>
    <p:sldId xmlns:r="http://schemas.openxmlformats.org/officeDocument/2006/relationships" id="256" r:id="R8af48e2566f648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5694b05004565" /><Relationship Type="http://schemas.openxmlformats.org/officeDocument/2006/relationships/slideMaster" Target="/ppt/slideMasters/slideMaster1.xml" Id="R7744bb1c8ea046ed" /><Relationship Type="http://schemas.openxmlformats.org/officeDocument/2006/relationships/notesMaster" Target="/ppt/notesMasters/notesMaster1.xml" Id="R245bde4dea054e86" /><Relationship Type="http://schemas.openxmlformats.org/officeDocument/2006/relationships/presProps" Target="/ppt/presProps.xml" Id="Ra0b972d2e1b9447f" /><Relationship Type="http://schemas.openxmlformats.org/officeDocument/2006/relationships/tableStyles" Target="/ppt/tableStyles.xml" Id="R3092f76f193b4fe1" /><Relationship Type="http://schemas.openxmlformats.org/officeDocument/2006/relationships/slide" Target="/ppt/slides/slide1.xml" Id="R8af48e2566f648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64ec3b318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30b96a64284e61" /><Relationship Type="http://schemas.openxmlformats.org/officeDocument/2006/relationships/notesMaster" Target="/ppt/notesMasters/notesMaster1.xml" Id="R8aca43f9d49c43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Ministry of Manpower, Labour Market Advance Release Fourth Quarter 2025 (29 Jan 2026): https://www.mom.gov.sg/newsroom/press-releases/2026/0129-labour-market-advance-release-fourth-quarter-2025</a:t>
            </a:r>
          </a:p>
          <a:p xmlns:a="http://schemas.openxmlformats.org/drawingml/2006/main">
            <a:r>
              <a:t>- Ministry of Manpower, Labour Market Report First Quarter 2026 (15 Jun 2026): https://stats.mom.gov.sg/Pages/Labour-Market-Report-1Q-2026.aspx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These figures explain why the demo monitors changing market conditions. Do not claim that this slide reports the agent's impact; the final benefits metric must use the six-person baseline-versus-agent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6ab12e21249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582b043093415d" /><Relationship Type="http://schemas.openxmlformats.org/officeDocument/2006/relationships/slideLayout" Target="/ppt/slideLayouts/slideLayout1.xml" Id="R318e2a49db5d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e2a49db5d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a41a235734ff2" /><Relationship Type="http://schemas.openxmlformats.org/officeDocument/2006/relationships/chart" Target="/ppt/slides/charts/chart1.xml" Id="R3c257253c6694e6c" /><Relationship Type="http://schemas.openxmlformats.org/officeDocument/2006/relationships/notesSlide" Target="/ppt/notesSlides/notesSlide1.xml" Id="Ra04283ebdc7d40d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Re-entry rate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4Q 2025</c:v>
              </c:pt>
              <c:pt idx="1">
                <c:v>1Q 2026</c:v>
              </c:pt>
            </c:strLit>
          </c:cat>
          <c:val>
            <c:numLit>
              <c:formatCode>General</c:formatCode>
              <c:ptCount val="2"/>
              <c:pt idx="0">
                <c:v>57.4</c:v>
              </c:pt>
              <c:pt idx="1">
                <c:v>60.7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9DE2BD14-C031-4DD4-9D45-9CCD902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WHY ADAPTATION MATTERS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8C8455-9799-4000-A5CB-38A71B3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95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7"/>
                </a:solidFill>
              </a:defRPr>
            </a:pPr>
            <a:r>
              <a:rPr sz="3225" b="1">
                <a:solidFill>
                  <a:srgbClr val="101827"/>
                </a:solidFill>
              </a:rPr>
              <a:t>The benefit is avoiding a path</a:t>
            </a:r>
          </a:p>
          <a:p xmlns:a="http://schemas.openxmlformats.org/drawingml/2006/main">
            <a:pPr>
              <a:defRPr sz="3225" b="1">
                <a:solidFill>
                  <a:srgbClr val="101827"/>
                </a:solidFill>
              </a:defRPr>
            </a:pPr>
            <a:r>
              <a:rPr sz="3225" b="1">
                <a:solidFill>
                  <a:srgbClr val="101827"/>
                </a:solidFill>
              </a:rPr>
              <a:t>that has already changed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8B88938-5A9B-473B-BC15-E0FAB69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273"/>
                </a:solidFill>
              </a:defRPr>
            </a:pPr>
            <a:r>
              <a:rPr sz="1575">
                <a:solidFill>
                  <a:srgbClr val="586273"/>
                </a:solidFill>
              </a:rPr>
              <a:t>A one-time course recommendation cannot respond when hiring conditions or application evidence move.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5DD9D58C-448D-4574-9588-69D94CD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5" name="metric-one">
            <a:extLst xmlns:a="http://schemas.openxmlformats.org/drawingml/2006/main">
              <a:ext uri="{FF2B5EF4-FFF2-40B4-BE49-F238E27FC236}">
                <a16:creationId xmlns:a16="http://schemas.microsoft.com/office/drawing/2014/main" id="{45BFB359-B821-43F2-A97D-DFC09C4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14,400</a:t>
            </a:r>
          </a:p>
        </p:txBody>
      </p:sp>
      <p:sp>
        <p:nvSpPr>
          <p:cNvPr id="6" name="metric-one-copy">
            <a:extLst xmlns:a="http://schemas.openxmlformats.org/drawingml/2006/main">
              <a:ext uri="{FF2B5EF4-FFF2-40B4-BE49-F238E27FC236}">
                <a16:creationId xmlns:a16="http://schemas.microsoft.com/office/drawing/2014/main" id="{3FA39E1D-4D04-4A73-82B1-5B2F61D7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people were retrenched</a:t>
            </a:r>
          </a:p>
          <a:p xmlns:a="http://schemas.openxmlformats.org/drawingml/2006/main">
            <a:pPr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in Singapore in 2025</a:t>
            </a:r>
          </a:p>
        </p:txBody>
      </p:sp>
      <p:sp>
        <p:nvSpPr>
          <p:cNvPr id="7" name="metric-two">
            <a:extLst xmlns:a="http://schemas.openxmlformats.org/drawingml/2006/main">
              <a:ext uri="{FF2B5EF4-FFF2-40B4-BE49-F238E27FC236}">
                <a16:creationId xmlns:a16="http://schemas.microsoft.com/office/drawing/2014/main" id="{4EE557B2-9CEF-4125-893C-781C7561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60.7%</a:t>
            </a:r>
          </a:p>
        </p:txBody>
      </p:sp>
      <p:sp>
        <p:nvSpPr>
          <p:cNvPr id="8" name="metric-two-copy">
            <a:extLst xmlns:a="http://schemas.openxmlformats.org/drawingml/2006/main">
              <a:ext uri="{FF2B5EF4-FFF2-40B4-BE49-F238E27FC236}">
                <a16:creationId xmlns:a16="http://schemas.microsoft.com/office/drawing/2014/main" id="{EA72FEA4-714C-4328-B22D-D228AFD1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of retrenched residents re-entered</a:t>
            </a:r>
          </a:p>
          <a:p xmlns:a="http://schemas.openxmlformats.org/drawingml/2006/main">
            <a:pPr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employment within six months in 1Q 2026</a:t>
            </a:r>
          </a:p>
        </p:txBody>
      </p:sp>
      <p:sp>
        <p:nvSpPr>
          <p:cNvPr id="9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3BD6AB52-4B46-460E-AE37-3EB4D6B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4343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art-label">
            <a:extLst xmlns:a="http://schemas.openxmlformats.org/drawingml/2006/main">
              <a:ext uri="{FF2B5EF4-FFF2-40B4-BE49-F238E27FC236}">
                <a16:creationId xmlns:a16="http://schemas.microsoft.com/office/drawing/2014/main" id="{9292B21D-E376-4F36-A732-9BFE2C5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6-month re-entry rate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372350" y="3943350"/>
          <a:ext xmlns:a="http://schemas.openxmlformats.org/drawingml/2006/main" cx="3790950" cy="1200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257253c6694e6c"/>
          </a:graphicData>
        </a:graphic>
      </p:graphicFrame>
      <p:sp>
        <p:nvSpPr>
          <p:cNvPr id="12" name="conclusion">
            <a:extLst xmlns:a="http://schemas.openxmlformats.org/drawingml/2006/main">
              <a:ext uri="{FF2B5EF4-FFF2-40B4-BE49-F238E27FC236}">
                <a16:creationId xmlns:a16="http://schemas.microsoft.com/office/drawing/2014/main" id="{1CB03D8E-14F3-4BD6-B86F-1234D22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Our agent checks the market weekly and changes its plan when the evidence changes.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EC14090-4B91-49CD-B355-B5A923D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42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273"/>
                </a:solidFill>
              </a:defRPr>
            </a:pPr>
            <a:r>
              <a:rPr sz="900">
                <a:solidFill>
                  <a:srgbClr val="586273"/>
                </a:solidFill>
              </a:rPr>
              <a:t>Sources: MOM Labour Market Advance Release 4Q 2025; MOM Labour Market Report 1Q 2026.</a:t>
            </a:r>
          </a:p>
        </p:txBody>
      </p:sp>
    </p:spTree>
    <p:extLst>
      <p:ext uri="{BB962C8B-B14F-4D97-AF65-F5344CB8AC3E}">
        <p14:creationId xmlns:p14="http://schemas.microsoft.com/office/powerpoint/2010/main" val="902000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2026-09-03T01:18:25.9480000Z</dcterms:created>
  <dcterms:modified xsi:type="dcterms:W3CDTF">2026-09-03T01:18:25.9480000Z</dcterms:modified>
</coreProperties>
</file>