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d880d70f0747eb" /><Relationship Type="http://schemas.openxmlformats.org/officeDocument/2006/relationships/extended-properties" Target="/docProps/app.xml" Id="R0621fc20ff4f4e39" /><Relationship Type="http://schemas.openxmlformats.org/officeDocument/2006/relationships/officeDocument" Target="/ppt/presentation.xml" Id="R421f659f757b4a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562bce14264c10"/>
  </p:sldMasterIdLst>
  <p:notesMasterIdLst>
    <p:notesMasterId xmlns:r="http://schemas.openxmlformats.org/officeDocument/2006/relationships" r:id="Rb4ba3ba7fee34b4e"/>
  </p:notesMasterIdLst>
  <p:sldIdLst>
    <p:sldId xmlns:r="http://schemas.openxmlformats.org/officeDocument/2006/relationships" id="256" r:id="Rdb6f1a3dcbe143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d697f6d9824129" /><Relationship Type="http://schemas.openxmlformats.org/officeDocument/2006/relationships/slideMaster" Target="/ppt/slideMasters/slideMaster1.xml" Id="R23562bce14264c10" /><Relationship Type="http://schemas.openxmlformats.org/officeDocument/2006/relationships/notesMaster" Target="/ppt/notesMasters/notesMaster1.xml" Id="Rb4ba3ba7fee34b4e" /><Relationship Type="http://schemas.openxmlformats.org/officeDocument/2006/relationships/presProps" Target="/ppt/presProps.xml" Id="Rb9ff2888129a4483" /><Relationship Type="http://schemas.openxmlformats.org/officeDocument/2006/relationships/tableStyles" Target="/ppt/tableStyles.xml" Id="Re9befd137fc74767" /><Relationship Type="http://schemas.openxmlformats.org/officeDocument/2006/relationships/slide" Target="/ppt/slides/slide1.xml" Id="Rdb6f1a3dcbe143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e52262017341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807790e2b34292" /><Relationship Type="http://schemas.openxmlformats.org/officeDocument/2006/relationships/notesMaster" Target="/ppt/notesMasters/notesMaster1.xml" Id="Rb01b251f5962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Day 4 evaluation output, supplied by the project team (6 Sep 2026).</a:t>
            </a:r>
          </a:p>
          <a:p xmlns:a="http://schemas.openxmlformats.org/drawingml/2006/main">
            <a:r>
              <a:t>- Method: six synthetic personas, identical starting market, and a 26-week replay. The one-shot baseline sent all 6 to a target closed by week 10. The adaptive agent caught 5 dead paths, placed 5 of 6 candidates, saved ~8 months of training, and avoided ~S$6,027 in wasted spend.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The remaining unplaced candidate is Tan Wei Ling. This is a six-person evaluation cohort, not a population-wide outcome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2d13e77e54a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38c3fa04664a57" /><Relationship Type="http://schemas.openxmlformats.org/officeDocument/2006/relationships/slideLayout" Target="/ppt/slideLayouts/slideLayout1.xml" Id="Rfc4fd01bb55841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4fd01bb55841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119cbcba647c3" /><Relationship Type="http://schemas.openxmlformats.org/officeDocument/2006/relationships/chart" Target="/ppt/slides/charts/chart1.xml" Id="Rf819e3b2e20348d1" /><Relationship Type="http://schemas.openxmlformats.org/officeDocument/2006/relationships/notesSlide" Target="/ppt/notesSlides/notesSlide1.xml" Id="Rf1e860c90f70418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Candidates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Data'!$A$2:$A$3</c:f>
              <c:strCache>
                <c:ptCount val="2"/>
                <c:pt idx="0">
                  <c:v>Placed</c:v>
                </c:pt>
                <c:pt idx="1">
                  <c:v>Not placed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</c:v>
                </c:pt>
                <c:pt idx="1">
                  <c:v>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Candidates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9DE2BD14-C031-4DD4-9D45-9CCD902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DAY 4 EVALUATION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8C8455-9799-4000-A5CB-38A71B31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95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7"/>
                </a:solidFill>
              </a:defRPr>
            </a:pPr>
            <a:r>
              <a:rPr sz="3225" b="1">
                <a:solidFill>
                  <a:srgbClr val="101827"/>
                </a:solidFill>
              </a:rPr>
              <a:t>The adaptive agent caught</a:t>
            </a:r>
          </a:p>
          <a:p xmlns:a="http://schemas.openxmlformats.org/drawingml/2006/main">
            <a:pPr>
              <a:buNone/>
              <a:defRPr sz="3225" b="1">
                <a:solidFill>
                  <a:srgbClr val="101827"/>
                </a:solidFill>
              </a:defRPr>
            </a:pPr>
            <a:r>
              <a:rPr sz="3225" b="1">
                <a:solidFill>
                  <a:srgbClr val="101827"/>
                </a:solidFill>
              </a:rPr>
              <a:t>five of six dead paths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8B88938-5A9B-473B-BC15-E0FAB698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86273"/>
                </a:solidFill>
              </a:defRPr>
            </a:pPr>
            <a:r>
              <a:rPr sz="1575">
                <a:solidFill>
                  <a:srgbClr val="586273"/>
                </a:solidFill>
              </a:rPr>
              <a:t>We replayed the same six synthetic candidates through the one-shot baseline and the adaptive agent.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5DD9D58C-448D-4574-9588-69D94CD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5" name="metric-one">
            <a:extLst xmlns:a="http://schemas.openxmlformats.org/drawingml/2006/main">
              <a:ext uri="{FF2B5EF4-FFF2-40B4-BE49-F238E27FC236}">
                <a16:creationId xmlns:a16="http://schemas.microsoft.com/office/drawing/2014/main" id="{45BFB359-B821-43F2-A97D-DFC09C4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01827"/>
                </a:solidFill>
              </a:defRPr>
            </a:pPr>
            <a:r>
              <a:rPr sz="3900" b="1">
                <a:solidFill>
                  <a:srgbClr val="101827"/>
                </a:solidFill>
              </a:rPr>
              <a:t>6 / 6</a:t>
            </a:r>
          </a:p>
        </p:txBody>
      </p:sp>
      <p:sp>
        <p:nvSpPr>
          <p:cNvPr id="6" name="metric-one-copy">
            <a:extLst xmlns:a="http://schemas.openxmlformats.org/drawingml/2006/main">
              <a:ext uri="{FF2B5EF4-FFF2-40B4-BE49-F238E27FC236}">
                <a16:creationId xmlns:a16="http://schemas.microsoft.com/office/drawing/2014/main" id="{3FA39E1D-4D04-4A73-82B1-5B2F61D7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86273"/>
                </a:solidFill>
              </a:defRPr>
            </a:pPr>
            <a:r>
              <a:rPr sz="1425">
                <a:solidFill>
                  <a:srgbClr val="586273"/>
                </a:solidFill>
              </a:rPr>
              <a:t>baseline recommendations were</a:t>
            </a:r>
          </a:p>
          <a:p xmlns:a="http://schemas.openxmlformats.org/drawingml/2006/main">
            <a:pPr>
              <a:buNone/>
              <a:defRPr sz="1425">
                <a:solidFill>
                  <a:srgbClr val="586273"/>
                </a:solidFill>
              </a:defRPr>
            </a:pPr>
            <a:r>
              <a:rPr sz="1425">
                <a:solidFill>
                  <a:srgbClr val="586273"/>
                </a:solidFill>
              </a:rPr>
              <a:t>on a target closed by week 10</a:t>
            </a:r>
          </a:p>
        </p:txBody>
      </p:sp>
      <p:sp>
        <p:nvSpPr>
          <p:cNvPr id="7" name="metric-two">
            <a:extLst xmlns:a="http://schemas.openxmlformats.org/drawingml/2006/main">
              <a:ext uri="{FF2B5EF4-FFF2-40B4-BE49-F238E27FC236}">
                <a16:creationId xmlns:a16="http://schemas.microsoft.com/office/drawing/2014/main" id="{4EE557B2-9CEF-4125-893C-781C7561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01827"/>
                </a:solidFill>
              </a:defRPr>
            </a:pPr>
            <a:r>
              <a:rPr sz="3900" b="1">
                <a:solidFill>
                  <a:srgbClr val="101827"/>
                </a:solidFill>
              </a:rPr>
              <a:t>5 / 6</a:t>
            </a:r>
          </a:p>
        </p:txBody>
      </p:sp>
      <p:sp>
        <p:nvSpPr>
          <p:cNvPr id="8" name="metric-two-copy">
            <a:extLst xmlns:a="http://schemas.openxmlformats.org/drawingml/2006/main">
              <a:ext uri="{FF2B5EF4-FFF2-40B4-BE49-F238E27FC236}">
                <a16:creationId xmlns:a16="http://schemas.microsoft.com/office/drawing/2014/main" id="{EA72FEA4-714C-4328-B22D-D228AFD1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86273"/>
                </a:solidFill>
              </a:defRPr>
            </a:pPr>
            <a:r>
              <a:rPr sz="1425">
                <a:solidFill>
                  <a:srgbClr val="586273"/>
                </a:solidFill>
              </a:rPr>
              <a:t>dead paths caught by the adaptive agent</a:t>
            </a:r>
          </a:p>
          <a:p xmlns:a="http://schemas.openxmlformats.org/drawingml/2006/main">
            <a:pPr>
              <a:buNone/>
              <a:defRPr sz="1425">
                <a:solidFill>
                  <a:srgbClr val="586273"/>
                </a:solidFill>
              </a:defRPr>
            </a:pPr>
            <a:r>
              <a:rPr sz="1425">
                <a:solidFill>
                  <a:srgbClr val="586273"/>
                </a:solidFill>
              </a:rPr>
              <a:t>before training time was wasted</a:t>
            </a:r>
          </a:p>
        </p:txBody>
      </p:sp>
      <p:sp>
        <p:nvSpPr>
          <p:cNvPr id="9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3BD6AB52-4B46-460E-AE37-3EB4D6B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14700"/>
            <a:ext cx="4343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art-label">
            <a:extLst xmlns:a="http://schemas.openxmlformats.org/drawingml/2006/main">
              <a:ext uri="{FF2B5EF4-FFF2-40B4-BE49-F238E27FC236}">
                <a16:creationId xmlns:a16="http://schemas.microsoft.com/office/drawing/2014/main" id="{9292B21D-E376-4F36-A732-9BFE2C5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Placed after adaptation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372350" y="3943350"/>
          <a:ext xmlns:a="http://schemas.openxmlformats.org/drawingml/2006/main" cx="3790950" cy="1200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19e3b2e20348d1"/>
          </a:graphicData>
        </a:graphic>
      </p:graphicFrame>
      <p:sp>
        <p:nvSpPr>
          <p:cNvPr id="12" name="conclusion">
            <a:extLst xmlns:a="http://schemas.openxmlformats.org/drawingml/2006/main">
              <a:ext uri="{FF2B5EF4-FFF2-40B4-BE49-F238E27FC236}">
                <a16:creationId xmlns:a16="http://schemas.microsoft.com/office/drawing/2014/main" id="{1CB03D8E-14F3-4BD6-B86F-1234D22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857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5 of 6 were placed; ~8 months of training and ~S$6,027 in wasted spend were avoided.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EC14090-4B91-49CD-B355-B5A923D5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42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86273"/>
                </a:solidFill>
              </a:defRPr>
            </a:pPr>
            <a:r>
              <a:rPr sz="900">
                <a:solidFill>
                  <a:srgbClr val="586273"/>
                </a:solidFill>
              </a:rPr>
              <a:t>Method: 6 synthetic personas; same start state; 26-week market replay.</a:t>
            </a:r>
          </a:p>
        </p:txBody>
      </p:sp>
    </p:spTree>
    <p:extLst>
      <p:ext uri="{BB962C8B-B14F-4D97-AF65-F5344CB8AC3E}">
        <p14:creationId xmlns:p14="http://schemas.microsoft.com/office/powerpoint/2010/main" val="902000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2026-09-05T17:26:29.2730000Z</dcterms:created>
  <dcterms:modified xsi:type="dcterms:W3CDTF">2026-09-05T17:26:29.2730000Z</dcterms:modified>
</coreProperties>
</file>